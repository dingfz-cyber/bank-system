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5" r:id="rId11"/>
    <p:sldId id="266" r:id="rId12"/>
    <p:sldId id="267" r:id="rId13"/>
    <p:sldId id="268" r:id="rId14"/>
    <p:sldId id="269" r:id="rId15"/>
    <p:sldId id="263" r:id="rId16"/>
    <p:sldId id="264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914400" y="2194560"/>
            <a:ext cx="1036289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56D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第六组实习报告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362895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组长：丁福珍 | 组员：李舒婷、王涛、杜叶茜、李博妮、韩欣妮、胡婉、单小容、张佳默、张忠来</a:t>
            </a:r>
            <a:endParaRPr lang="en-US" sz="1400" dirty="0"/>
          </a:p>
          <a:p>
            <a:pPr marL="0" indent="0" algn="ctr">
              <a:lnSpc>
                <a:spcPts val="26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西安石油大学 计算机科学与技术 | 2026.06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 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A56DB"/>
          </a:solidFill>
        </p:spPr>
      </p:sp>
      <p:sp>
        <p:nvSpPr>
          <p:cNvPr id="5" name="Text 3"/>
          <p:cNvSpPr/>
          <p:nvPr/>
        </p:nvSpPr>
        <p:spPr>
          <a:xfrm>
            <a:off x="731520" y="137160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项目概述与技术栈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A56DB"/>
          </a:solidFill>
        </p:spPr>
      </p:sp>
      <p:sp>
        <p:nvSpPr>
          <p:cNvPr id="8" name="Text 6"/>
          <p:cNvSpPr/>
          <p:nvPr/>
        </p:nvSpPr>
        <p:spPr>
          <a:xfrm>
            <a:off x="731520" y="246888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86000" y="246888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团队分工一览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A56DB"/>
          </a:solidFill>
        </p:spPr>
      </p:sp>
      <p:sp>
        <p:nvSpPr>
          <p:cNvPr id="11" name="Text 9"/>
          <p:cNvSpPr/>
          <p:nvPr/>
        </p:nvSpPr>
        <p:spPr>
          <a:xfrm>
            <a:off x="731520" y="356616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286000" y="356616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成员贡献详情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663440"/>
            <a:ext cx="1188720" cy="822960"/>
          </a:xfrm>
          <a:prstGeom prst="roundRect">
            <a:avLst>
              <a:gd name="adj" fmla="val 11111"/>
            </a:avLst>
          </a:prstGeom>
          <a:solidFill>
            <a:srgbClr val="1A56DB"/>
          </a:solidFill>
        </p:spPr>
      </p:sp>
      <p:sp>
        <p:nvSpPr>
          <p:cNvPr id="14" name="Text 12"/>
          <p:cNvSpPr/>
          <p:nvPr/>
        </p:nvSpPr>
        <p:spPr>
          <a:xfrm>
            <a:off x="731520" y="4663440"/>
            <a:ext cx="1188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4663440"/>
            <a:ext cx="9144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实习收获与总结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7" name="Text 1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前后端分离的在线银行演示系统，覆盖用户注册开户→金融产品浏览→业务申请→审核发卡→转账汇款→生活缴费的完整金融服务闭环。配套五层角色后台管理系统，职责分离、权限隔离。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代码规模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315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Java文件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269748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Vue文件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466344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数据表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662940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2940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API接口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59536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9536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路由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05613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10人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5613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团队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技术栈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后端：Java 21 + Spring Boot 3.4 + MyBatis-Plus + MySQL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前端：Vue 3 + Vite + Element Plus + Pinia + Axios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安全：JWT + BCrypt + 五层RBAC + AOP操作日志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工具：Claude Code AI辅助开发 + Git + Maven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团队分工一览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2377440" cy="4572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5" name="Text 3"/>
          <p:cNvSpPr/>
          <p:nvPr/>
        </p:nvSpPr>
        <p:spPr>
          <a:xfrm>
            <a:off x="731520" y="118872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成员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108960" y="1188720"/>
            <a:ext cx="5120640" cy="4572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7" name="Text 5"/>
          <p:cNvSpPr/>
          <p:nvPr/>
        </p:nvSpPr>
        <p:spPr>
          <a:xfrm>
            <a:off x="3108960" y="118872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负责模块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0" y="1188720"/>
            <a:ext cx="914400" cy="45720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9" name="Text 7"/>
          <p:cNvSpPr/>
          <p:nvPr/>
        </p:nvSpPr>
        <p:spPr>
          <a:xfrm>
            <a:off x="8229600" y="118872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1" name="Text 9"/>
          <p:cNvSpPr/>
          <p:nvPr/>
        </p:nvSpPr>
        <p:spPr>
          <a:xfrm>
            <a:off x="731520" y="169164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</a:rPr>
              <a:t>丁福珍(组长)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1691640"/>
            <a:ext cx="51206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3" name="Text 11"/>
          <p:cNvSpPr/>
          <p:nvPr/>
        </p:nvSpPr>
        <p:spPr>
          <a:xfrm>
            <a:off x="3108960" y="16916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系统基础架构 / 后台管理 / 用户管理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91440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15" name="Text 13"/>
          <p:cNvSpPr/>
          <p:nvPr/>
        </p:nvSpPr>
        <p:spPr>
          <a:xfrm>
            <a:off x="8229600" y="169164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7个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167128"/>
            <a:ext cx="23774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731520" y="216712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李舒婷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2167128"/>
            <a:ext cx="51206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3108960" y="2167128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前台公共 / 新闻公告 / 交互优化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0" y="2167128"/>
            <a:ext cx="9144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8229600" y="2167128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4个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2642616"/>
            <a:ext cx="23774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3" name="Text 21"/>
          <p:cNvSpPr/>
          <p:nvPr/>
        </p:nvSpPr>
        <p:spPr>
          <a:xfrm>
            <a:off x="731520" y="2642616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王涛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0" y="2642616"/>
            <a:ext cx="51206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5" name="Text 23"/>
          <p:cNvSpPr/>
          <p:nvPr/>
        </p:nvSpPr>
        <p:spPr>
          <a:xfrm>
            <a:off x="3108960" y="2642616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首页 / 交易查询 / 申请审核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29600" y="2642616"/>
            <a:ext cx="91440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27" name="Text 25"/>
          <p:cNvSpPr/>
          <p:nvPr/>
        </p:nvSpPr>
        <p:spPr>
          <a:xfrm>
            <a:off x="8229600" y="2642616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4个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118104"/>
            <a:ext cx="23774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Text 27"/>
          <p:cNvSpPr/>
          <p:nvPr/>
        </p:nvSpPr>
        <p:spPr>
          <a:xfrm>
            <a:off x="731520" y="3118104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杜叶茜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3118104"/>
            <a:ext cx="51206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1" name="Text 29"/>
          <p:cNvSpPr/>
          <p:nvPr/>
        </p:nvSpPr>
        <p:spPr>
          <a:xfrm>
            <a:off x="3108960" y="3118104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网点查询 / 缴费充值 / 理财服务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229600" y="3118104"/>
            <a:ext cx="9144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3" name="Text 31"/>
          <p:cNvSpPr/>
          <p:nvPr/>
        </p:nvSpPr>
        <p:spPr>
          <a:xfrm>
            <a:off x="8229600" y="3118104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3个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3593592"/>
            <a:ext cx="23774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5" name="Text 33"/>
          <p:cNvSpPr/>
          <p:nvPr/>
        </p:nvSpPr>
        <p:spPr>
          <a:xfrm>
            <a:off x="731520" y="3593592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李博妮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108960" y="3593592"/>
            <a:ext cx="51206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7" name="Text 35"/>
          <p:cNvSpPr/>
          <p:nvPr/>
        </p:nvSpPr>
        <p:spPr>
          <a:xfrm>
            <a:off x="3108960" y="3593592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实名注册 / 账号登录 / 忘记密码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229600" y="3593592"/>
            <a:ext cx="91440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39" name="Text 37"/>
          <p:cNvSpPr/>
          <p:nvPr/>
        </p:nvSpPr>
        <p:spPr>
          <a:xfrm>
            <a:off x="8229600" y="35935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4个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4069080"/>
            <a:ext cx="23774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1" name="Text 39"/>
          <p:cNvSpPr/>
          <p:nvPr/>
        </p:nvSpPr>
        <p:spPr>
          <a:xfrm>
            <a:off x="731520" y="4069080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韩欣妮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08960" y="4069080"/>
            <a:ext cx="51206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3" name="Text 41"/>
          <p:cNvSpPr/>
          <p:nvPr/>
        </p:nvSpPr>
        <p:spPr>
          <a:xfrm>
            <a:off x="3108960" y="40690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个人信息 / 交易密码 / 安全中心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229600" y="4069080"/>
            <a:ext cx="9144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5" name="Text 43"/>
          <p:cNvSpPr/>
          <p:nvPr/>
        </p:nvSpPr>
        <p:spPr>
          <a:xfrm>
            <a:off x="8229600" y="4069080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3个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1520" y="4544568"/>
            <a:ext cx="23774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7" name="Text 45"/>
          <p:cNvSpPr/>
          <p:nvPr/>
        </p:nvSpPr>
        <p:spPr>
          <a:xfrm>
            <a:off x="731520" y="4544568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胡婉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108960" y="4544568"/>
            <a:ext cx="51206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49" name="Text 47"/>
          <p:cNvSpPr/>
          <p:nvPr/>
        </p:nvSpPr>
        <p:spPr>
          <a:xfrm>
            <a:off x="3108960" y="4544568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银行卡 / 交易流水 / 转账汇款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29600" y="4544568"/>
            <a:ext cx="91440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51" name="Text 49"/>
          <p:cNvSpPr/>
          <p:nvPr/>
        </p:nvSpPr>
        <p:spPr>
          <a:xfrm>
            <a:off x="8229600" y="4544568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3个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1520" y="5020056"/>
            <a:ext cx="23774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3" name="Text 51"/>
          <p:cNvSpPr/>
          <p:nvPr/>
        </p:nvSpPr>
        <p:spPr>
          <a:xfrm>
            <a:off x="731520" y="5020056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单小容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108960" y="5020056"/>
            <a:ext cx="51206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5" name="Text 53"/>
          <p:cNvSpPr/>
          <p:nvPr/>
        </p:nvSpPr>
        <p:spPr>
          <a:xfrm>
            <a:off x="3108960" y="5020056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信用卡申请 / 申请记录 / 实用工具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229600" y="5020056"/>
            <a:ext cx="9144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7" name="Text 55"/>
          <p:cNvSpPr/>
          <p:nvPr/>
        </p:nvSpPr>
        <p:spPr>
          <a:xfrm>
            <a:off x="8229600" y="5020056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3个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31520" y="5495544"/>
            <a:ext cx="23774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59" name="Text 57"/>
          <p:cNvSpPr/>
          <p:nvPr/>
        </p:nvSpPr>
        <p:spPr>
          <a:xfrm>
            <a:off x="731520" y="5495544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张佳默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108960" y="5495544"/>
            <a:ext cx="512064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61" name="Text 59"/>
          <p:cNvSpPr/>
          <p:nvPr/>
        </p:nvSpPr>
        <p:spPr>
          <a:xfrm>
            <a:off x="3108960" y="5495544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消息通知 / 智能客服 / 交易导出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8229600" y="5495544"/>
            <a:ext cx="914400" cy="457200"/>
          </a:xfrm>
          <a:prstGeom prst="rect">
            <a:avLst/>
          </a:prstGeom>
          <a:solidFill>
            <a:srgbClr val="E8F0FE"/>
          </a:solidFill>
        </p:spPr>
      </p:sp>
      <p:sp>
        <p:nvSpPr>
          <p:cNvPr id="63" name="Text 61"/>
          <p:cNvSpPr/>
          <p:nvPr/>
        </p:nvSpPr>
        <p:spPr>
          <a:xfrm>
            <a:off x="8229600" y="5495544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4个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31520" y="5971032"/>
            <a:ext cx="23774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5" name="Text 63"/>
          <p:cNvSpPr/>
          <p:nvPr/>
        </p:nvSpPr>
        <p:spPr>
          <a:xfrm>
            <a:off x="731520" y="5971032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34155"/>
                </a:solidFill>
              </a:rPr>
              <a:t>张忠来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108960" y="5971032"/>
            <a:ext cx="512064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7" name="Text 65"/>
          <p:cNvSpPr/>
          <p:nvPr/>
        </p:nvSpPr>
        <p:spPr>
          <a:xfrm>
            <a:off x="3108960" y="5971032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</a:rPr>
              <a:t>个人业务 / 数据加密 / 深色模式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229600" y="5971032"/>
            <a:ext cx="914400" cy="4572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69" name="Text 67"/>
          <p:cNvSpPr/>
          <p:nvPr/>
        </p:nvSpPr>
        <p:spPr>
          <a:xfrm>
            <a:off x="8229600" y="59710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</a:rPr>
              <a:t>3个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71" name="Text 69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成员贡献详情 — 第一组 (丁福珍, 李舒婷, 王涛, 杜叶茜)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丁福珍(组长)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编写需求文档、设计文档和项目规范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搭建Spring Boot+Vue3初始项目框架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编制34个Story分配表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独立完成整个管理后台系统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系统全面测试(定位修复12个Bug)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答辩PPT制作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核心贡献：系统架构设计 + 管理后台全栈 + 项目统筹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李舒婷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网站首页完整开发(导航/轮播/入口/页脚)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产品展示专区(搜索/排序/对比/详情)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新闻公告&amp;信息公开页面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前端交互体验优化(回到顶部/浏览历史)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核心贡献：所有前台公开页面的主要开发者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319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王涛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网站首页开发(与李舒婷合作)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用户&amp;申请审核模块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交易数据查询与流水导出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前端交互体验优化(与李舒婷合作)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核心贡献：后台业务逻辑 + 数据查询模块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3840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319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杜叶茜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38912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网点查询功能(20网点+筛选)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缴费与充值模块(6类缴费+收藏)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理财业务功能(申购/赎回/计息)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6692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核心贡献：网点+缴费+理财三大模块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1" name="Text 19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成员贡献详情 — 第二组 (李博妮, 韩欣妮, 胡婉, 单小容)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李博妮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实名注册(姓名+身份证+表单校验)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双模式账号登录(密码+短信验证码)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忘记密码(手机验证→重置→跳转)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账号登出功能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核心贡献：用户账户体系完整闭环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韩欣妮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个人信息管理(编辑/头像/双重验证)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交易密码管理(6位数字,与登录隔离)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安全中心(设备记录/限额/二次验证)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核心贡献：个人中心安全模块开发者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319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胡婉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38912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银行卡管理(脱敏/冻结/解冻/注销)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账户总览&amp;交易流水(统计+筛选+导出)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转账汇款(行内/跨行/手机号+收款人)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6692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核心贡献：最核心金融模块(银行卡+转账)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384048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393192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单小容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438912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信用卡&amp;贷款申请(表单+状态流转)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我的申请记录(分页/筛选/进度步骤条)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实用工具集(贷款计算器+外汇牌价)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56692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核心贡献：业务申请模块+实用工具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1" name="Text 19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成员贡献详情 — 第三组 (张佳默, 张忠来)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张佳默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站内消息通知(推送+红点+已读管理)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智能客服(7个FAQ自动问答)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交易流水CSV导出功能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积分系统(注册+登录积分+规则展示)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核心贡献：消息系统+客服+积分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371600"/>
            <a:ext cx="4572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6DB"/>
                </a:solidFill>
              </a:rPr>
              <a:t>张忠来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828800"/>
            <a:ext cx="48463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个人业务产品页面(列表+详情)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数据加密&amp;脱敏(与组长合作)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• 深色模式切换(30+组件适配)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9E0B"/>
                </a:solidFill>
              </a:rPr>
              <a:t>核心贡献：产品页面+安全+交互体验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3" name="Text 11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成果展示</a:t>
            </a:r>
            <a:r>
              <a:rPr lang="en-US" altLang="zh-CN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登录</a:t>
            </a:r>
            <a:r>
              <a:rPr lang="zh-CN" alt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注册</a:t>
            </a:r>
            <a:endParaRPr lang="zh-CN" altLang="en-US" sz="26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"/>
            </p:custDataLst>
          </p:nvPr>
        </p:nvSpPr>
        <p:spPr>
          <a:xfrm>
            <a:off x="105613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zh-CN" altLang="en-US" sz="2800" b="1" dirty="0">
              <a:solidFill>
                <a:srgbClr val="1A56DB"/>
              </a:solidFill>
              <a:latin typeface="Consolas" panose="020B0609020204030204" pitchFamily="34" charset="0"/>
              <a:ea typeface="宋体" panose="02010600030101010101" pitchFamily="2" charset="-122"/>
              <a:cs typeface="Consolas" panose="020B0609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rcRect l="4497"/>
          <a:stretch>
            <a:fillRect/>
          </a:stretch>
        </p:blipFill>
        <p:spPr>
          <a:xfrm>
            <a:off x="821055" y="1211580"/>
            <a:ext cx="8849995" cy="493839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215" y="2374900"/>
            <a:ext cx="3684905" cy="2839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项目概述</a:t>
            </a:r>
            <a:endParaRPr lang="en-US" sz="2600" dirty="0"/>
          </a:p>
        </p:txBody>
      </p:sp>
      <p:sp>
        <p:nvSpPr>
          <p:cNvPr id="21" name="Shape 19"/>
          <p:cNvSpPr/>
          <p:nvPr>
            <p:custDataLst>
              <p:tags r:id="rId1"/>
            </p:custDataLst>
          </p:nvPr>
        </p:nvSpPr>
        <p:spPr>
          <a:xfrm>
            <a:off x="9220200" y="297180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22" name="Text 20"/>
          <p:cNvSpPr/>
          <p:nvPr>
            <p:custDataLst>
              <p:tags r:id="rId2"/>
            </p:custDataLst>
          </p:nvPr>
        </p:nvSpPr>
        <p:spPr>
          <a:xfrm>
            <a:off x="105613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3" name="Text 21"/>
          <p:cNvSpPr/>
          <p:nvPr>
            <p:custDataLst>
              <p:tags r:id="rId3"/>
            </p:custDataLst>
          </p:nvPr>
        </p:nvSpPr>
        <p:spPr>
          <a:xfrm>
            <a:off x="105613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01395" y="292608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  <p:sp>
        <p:nvSpPr>
          <p:cNvPr id="30" name="文本框 29"/>
          <p:cNvSpPr txBox="1"/>
          <p:nvPr/>
        </p:nvSpPr>
        <p:spPr>
          <a:xfrm>
            <a:off x="4542155" y="34588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5370" y="1480820"/>
            <a:ext cx="5000625" cy="3895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前后端分离的在线银行演示系统，覆盖用户注册开户→金融产品浏览→业务申请→审核发卡→转账汇款→生活缴费的完整金融服务闭环。配套五层角色后台管理系统，职责分离、权限隔离。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代码规模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315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Java文件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269748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Vue文件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466344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数据表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662940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2940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API接口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59536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9536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路由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05613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10人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5613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团队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技术栈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后端：Java 21 + Spring Boot 3.4 + MyBatis-Plus + MySQL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前端：Vue 3 + Vite + Element Plus + Pinia + Axios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安全：JWT + BCrypt + 五层RBAC + AOP操作日志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工具：Claude Code AI辅助开发 + Git + Maven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项目概述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</a:rPr>
              <a:t>前后端分离的在线银行演示系统，覆盖用户注册开户→金融产品浏览→业务申请→审核发卡→转账汇款→生活缴费的完整金融服务闭环。配套五层角色后台管理系统，职责分离、权限隔离。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代码规模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315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73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Java文件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9748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0" name="Text 8"/>
          <p:cNvSpPr/>
          <p:nvPr/>
        </p:nvSpPr>
        <p:spPr>
          <a:xfrm>
            <a:off x="269748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37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9748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Vue文件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3" name="Text 11"/>
          <p:cNvSpPr/>
          <p:nvPr/>
        </p:nvSpPr>
        <p:spPr>
          <a:xfrm>
            <a:off x="466344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6344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数据表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2940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662940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2940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API接口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859536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9536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路由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561320" y="2926080"/>
            <a:ext cx="1737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</p:spPr>
      </p:sp>
      <p:sp>
        <p:nvSpPr>
          <p:cNvPr id="22" name="Text 20"/>
          <p:cNvSpPr/>
          <p:nvPr/>
        </p:nvSpPr>
        <p:spPr>
          <a:xfrm>
            <a:off x="10561320" y="2971800"/>
            <a:ext cx="1737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56DB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10人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0561320" y="3566160"/>
            <a:ext cx="1737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团队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</a:rPr>
              <a:t>技术栈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后端：Java 21 + Spring Boot 3.4 + MyBatis-Plus + MySQL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前端：Vue 3 + Vite + Element Plus + Pinia + Axios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安全：JWT + BCrypt + 五层RBAC + AOP操作日志</a:t>
            </a:r>
            <a:endParaRPr lang="en-US" sz="12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工具：Claude Code AI辅助开发 + Git + Maven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27" name="Text 2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3" name="Text 1"/>
          <p:cNvSpPr/>
          <p:nvPr/>
        </p:nvSpPr>
        <p:spPr>
          <a:xfrm>
            <a:off x="731520" y="13716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实习收获与总结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💡 技术能力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Spring Boot企业级开发 / Vue3组件化开发 / MyBatis-Plus数据库操作 / 前后端分离架构 / 五层RBAC权限设计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4320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🛠️ 团队协作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Story分工方式(每人3-4个独立+协作) / 结对编程 / Code Review / 文档先行规范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06908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🤖 AI工具使用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45262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Claude Code辅助开发(生成CRUD/定位Bug/写SQL) / 效率提升2-3倍 / 代码审核仍是核心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5349240"/>
            <a:ext cx="10515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5394960"/>
            <a:ext cx="100584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6DB"/>
                </a:solidFill>
              </a:rPr>
              <a:t>📝 项目管理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585216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需求文档→设计文档→Story表→开发→测试→文档同步 / 完整软件工程周期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56DB"/>
          </a:solidFill>
        </p:spPr>
      </p:sp>
      <p:sp>
        <p:nvSpPr>
          <p:cNvPr id="17" name="Text 15"/>
          <p:cNvSpPr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网上银行系统 V3.2 | 第六组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演示完毕 谢谢欣赏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3628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网上银行系统 V3.2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2895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第六组全体成员</a:t>
            </a:r>
            <a:endParaRPr lang="en-US" sz="15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组长：丁福珍 | 组员：李舒婷、王涛、杜叶茜、李博妮</a:t>
            </a:r>
            <a:endParaRPr lang="en-US" sz="1500" dirty="0"/>
          </a:p>
          <a:p>
            <a:pPr marL="0" indent="0" algn="ctr">
              <a:lnSpc>
                <a:spcPts val="3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韩欣妮、胡婉、单小容、张佳默、张忠来</a:t>
            </a:r>
            <a:endParaRPr lang="en-US" sz="15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90,&quot;left&quot;:694.8,&quot;top&quot;:230.4,&quot;width&quot;:273.6}"/>
</p:tagLst>
</file>

<file path=ppt/tags/tag2.xml><?xml version="1.0" encoding="utf-8"?>
<p:tagLst xmlns:p="http://schemas.openxmlformats.org/presentationml/2006/main">
  <p:tag name="KSO_WM_DIAGRAM_VIRTUALLY_FRAME" val="{&quot;height&quot;:90,&quot;left&quot;:726,&quot;top&quot;:230.4,&quot;width&quot;:242.4}"/>
</p:tagLst>
</file>

<file path=ppt/tags/tag3.xml><?xml version="1.0" encoding="utf-8"?>
<p:tagLst xmlns:p="http://schemas.openxmlformats.org/presentationml/2006/main">
  <p:tag name="KSO_WM_DIAGRAM_VIRTUALLY_FRAME" val="{&quot;height&quot;:90,&quot;left&quot;:726,&quot;top&quot;:230.4,&quot;width&quot;:242.4}"/>
</p:tagLst>
</file>

<file path=ppt/tags/tag4.xml><?xml version="1.0" encoding="utf-8"?>
<p:tagLst xmlns:p="http://schemas.openxmlformats.org/presentationml/2006/main">
  <p:tag name="KSO_WM_DIAGRAM_VIRTUALLY_FRAME" val="{&quot;height&quot;:90,&quot;left&quot;:726,&quot;top&quot;:230.4,&quot;width&quot;:2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2800</Words>
  <Application>WPS 演示</Application>
  <PresentationFormat>On-screen Show (16:9)</PresentationFormat>
  <Paragraphs>353</Paragraphs>
  <Slides>14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WPS_1604199785</cp:lastModifiedBy>
  <cp:revision>2</cp:revision>
  <dcterms:created xsi:type="dcterms:W3CDTF">2026-06-16T06:37:00Z</dcterms:created>
  <dcterms:modified xsi:type="dcterms:W3CDTF">2026-06-16T08:40:57Z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EE76E9AD7E2A4C848080B01D57C8BB9E_12</vt:lpwstr>
  </property>
</Properties>
</file>